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ofia Sans"/>
      <p:regular r:id="rId201314"/>
    </p:embeddedFont>
    <p:embeddedFont>
      <p:font typeface="Sofia Sans Medium"/>
      <p:regular r:id="rId201315"/>
    </p:embeddedFont>
    <p:embeddedFont>
      <p:font typeface="Sofia Sans Bold"/>
      <p:regular r:id="rId201316"/>
    </p:embeddedFont>
    <p:embeddedFont>
      <p:font typeface="Sofia Sans ExtraBold"/>
      <p:regular r:id="rId201317"/>
    </p:embeddedFont>
    <p:embeddedFont>
      <p:font typeface="Sofia Sans Extra Condensed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812800"/>
            <a:ext cx="6730832" cy="5232400"/>
          </a:xfrm>
          <a:prstGeom prst="rect">
            <a:avLst/>
          </a:prstGeom>
          <a:solidFill>
            <a:srgbClr val="D93A26"/>
          </a:solidFill>
          <a:ln/>
        </p:spPr>
      </p:sp>
      <p:sp>
        <p:nvSpPr>
          <p:cNvPr id="3" name="Text 1"/>
          <p:cNvSpPr/>
          <p:nvPr/>
        </p:nvSpPr>
        <p:spPr>
          <a:xfrm>
            <a:off x="914377" y="1292543"/>
            <a:ext cx="5918052" cy="347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7600" spc="-38" kern="1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RETAIL CUSTOMER INTELLIGENCE &amp; REVENUE OPTIMIZATION</a:t>
            </a:r>
            <a:endParaRPr lang="en-US" sz="7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639" cy="68580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59899"/>
            <a:ext cx="6766450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spc="80" kern="100" dirty="0">
                <a:solidFill>
                  <a:srgbClr val="000000"/>
                </a:solidFill>
                <a:latin typeface="Sofia Sans ExtraBold" pitchFamily="34" charset="0"/>
                <a:ea typeface="Sofia Sans ExtraBold" pitchFamily="34" charset="-122"/>
                <a:cs typeface="Sofia Sans ExtraBold" pitchFamily="34" charset="-120"/>
              </a:rPr>
              <a:t>CUSTOMER-LEVEL SHOPPING DATASET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189" y="846435"/>
            <a:ext cx="6309262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5000" spc="-300" kern="1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3,900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57189" y="2650153"/>
            <a:ext cx="6309262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4600" spc="-23" kern="1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CUSTOMER RECORDS, ONE QUESTION: WHERE IS THE OPPORTUNITY?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189" y="5364857"/>
            <a:ext cx="6309262" cy="1035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1450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18 original columns, multiple product categories.</a:t>
            </a:r>
            <a:endParaRPr lang="en-US" sz="16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Understand purchasing patterns, promotions, subscriptions and customer experience.</a:t>
            </a:r>
            <a:endParaRPr lang="en-US" sz="1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5936" y="0"/>
            <a:ext cx="48157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1967"/>
            <a:ext cx="11277318" cy="5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4600" spc="-23" kern="100" dirty="0">
                <a:solidFill>
                  <a:srgbClr val="111111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THE DATA COVERS WHO BUYS, WHAT, AND HOW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457189" y="1189335"/>
            <a:ext cx="5562461" cy="2529483"/>
          </a:xfrm>
          <a:prstGeom prst="rect">
            <a:avLst/>
          </a:prstGeom>
          <a:solidFill>
            <a:srgbClr val="43BD5E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1417935"/>
            <a:ext cx="510527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000000"/>
                </a:solidFill>
                <a:latin typeface="Sofia Sans Medium" pitchFamily="34" charset="0"/>
                <a:ea typeface="Sofia Sans Medium" pitchFamily="34" charset="-122"/>
                <a:cs typeface="Sofia Sans Medium" pitchFamily="34" charset="-120"/>
              </a:rPr>
              <a:t>Demographics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783" y="3147318"/>
            <a:ext cx="533386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Age, gender, location, subscription status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172046" y="1189335"/>
            <a:ext cx="5562461" cy="2529483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7" name="Text 5"/>
          <p:cNvSpPr/>
          <p:nvPr/>
        </p:nvSpPr>
        <p:spPr>
          <a:xfrm>
            <a:off x="6400640" y="1417935"/>
            <a:ext cx="510527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000000"/>
                </a:solidFill>
                <a:latin typeface="Sofia Sans Medium" pitchFamily="34" charset="0"/>
                <a:ea typeface="Sofia Sans Medium" pitchFamily="34" charset="-122"/>
                <a:cs typeface="Sofia Sans Medium" pitchFamily="34" charset="-120"/>
              </a:rPr>
              <a:t>Purchases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640" y="3147318"/>
            <a:ext cx="533386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Item, category, amount, season, size, color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189" y="3871218"/>
            <a:ext cx="5562461" cy="2529582"/>
          </a:xfrm>
          <a:prstGeom prst="rect">
            <a:avLst/>
          </a:prstGeom>
          <a:solidFill>
            <a:srgbClr val="2438C8"/>
          </a:solidFill>
          <a:ln/>
        </p:spPr>
      </p:sp>
      <p:sp>
        <p:nvSpPr>
          <p:cNvPr id="10" name="Text 8"/>
          <p:cNvSpPr/>
          <p:nvPr/>
        </p:nvSpPr>
        <p:spPr>
          <a:xfrm>
            <a:off x="685783" y="4099818"/>
            <a:ext cx="510527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Sofia Sans Medium" pitchFamily="34" charset="0"/>
                <a:ea typeface="Sofia Sans Medium" pitchFamily="34" charset="-122"/>
                <a:cs typeface="Sofia Sans Medium" pitchFamily="34" charset="-120"/>
              </a:rPr>
              <a:t>Behavior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783" y="5486400"/>
            <a:ext cx="5105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Discounts, promo codes, previous purchases, frequency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72046" y="3871218"/>
            <a:ext cx="5562461" cy="2529582"/>
          </a:xfrm>
          <a:prstGeom prst="rect">
            <a:avLst/>
          </a:prstGeom>
          <a:solidFill>
            <a:srgbClr val="D93A2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640" y="4099818"/>
            <a:ext cx="510527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Sofia Sans Medium" pitchFamily="34" charset="0"/>
                <a:ea typeface="Sofia Sans Medium" pitchFamily="34" charset="-122"/>
                <a:cs typeface="Sofia Sans Medium" pitchFamily="34" charset="-120"/>
              </a:rPr>
              <a:t>Experience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640" y="5829300"/>
            <a:ext cx="533386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Review rating, shipping type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1967"/>
            <a:ext cx="11277318" cy="5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4600" spc="-23" kern="100" dirty="0">
                <a:solidFill>
                  <a:srgbClr val="111111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FROM RAW FILE TO DECISION-READY DATA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457189" y="1189335"/>
            <a:ext cx="11277318" cy="1042293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1360785"/>
            <a:ext cx="9762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0282" y="1417935"/>
            <a:ext cx="105042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Python and Pandas: inspect, clean, standardize columns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189" y="2403078"/>
            <a:ext cx="98313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111111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02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08533" y="2460228"/>
            <a:ext cx="1072597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Fill 37 missing ratings (about 0.95%) with category medians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189" y="3445371"/>
            <a:ext cx="98908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111111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03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14486" y="3502521"/>
            <a:ext cx="107200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Engineer age group, subscription, discount, promo and purchase-history segments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189" y="4487664"/>
            <a:ext cx="100833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111111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04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33734" y="4544814"/>
            <a:ext cx="1070077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PostgreSQL: answer 10 business questions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189" y="5358507"/>
            <a:ext cx="11277318" cy="1042293"/>
          </a:xfrm>
          <a:prstGeom prst="rect">
            <a:avLst/>
          </a:prstGeom>
          <a:solidFill>
            <a:srgbClr val="2438C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783" y="5529957"/>
            <a:ext cx="99186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05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245859" y="5587107"/>
            <a:ext cx="1048864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Power BI: three-page interactive dashboard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189" y="2218928"/>
            <a:ext cx="11277318" cy="25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189" y="3261221"/>
            <a:ext cx="11277318" cy="25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189" y="4303514"/>
            <a:ext cx="11277318" cy="25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189" y="5345807"/>
            <a:ext cx="11277318" cy="25400"/>
          </a:xfrm>
          <a:prstGeom prst="rect">
            <a:avLst/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15759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8056" y="0"/>
            <a:ext cx="7223639" cy="6858000"/>
          </a:xfrm>
          <a:prstGeom prst="rect">
            <a:avLst/>
          </a:prstGeom>
          <a:solidFill>
            <a:srgbClr val="D93A26"/>
          </a:solidFill>
          <a:ln/>
        </p:spPr>
      </p:sp>
      <p:sp>
        <p:nvSpPr>
          <p:cNvPr id="4" name="Text 1"/>
          <p:cNvSpPr/>
          <p:nvPr/>
        </p:nvSpPr>
        <p:spPr>
          <a:xfrm>
            <a:off x="5425245" y="501967"/>
            <a:ext cx="6309262" cy="105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4600" spc="-23" kern="1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CLOTHING LEADS ON TOTAL VALUE, AT ABOUT $104K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425245" y="3321864"/>
            <a:ext cx="6766450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spc="80" kern="100" dirty="0">
                <a:solidFill>
                  <a:srgbClr val="FFFFFF"/>
                </a:solidFill>
                <a:latin typeface="Sofia Sans ExtraBold" pitchFamily="34" charset="0"/>
                <a:ea typeface="Sofia Sans ExtraBold" pitchFamily="34" charset="-122"/>
                <a:cs typeface="Sofia Sans ExtraBold" pitchFamily="34" charset="-120"/>
              </a:rPr>
              <a:t>TOTAL PURCHASE VALUE · AROUND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25245" y="3727450"/>
            <a:ext cx="6309262" cy="194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7000" spc="-340" kern="1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$104K</a:t>
            </a:r>
            <a:endParaRPr lang="en-US" sz="17000" dirty="0"/>
          </a:p>
        </p:txBody>
      </p:sp>
      <p:sp>
        <p:nvSpPr>
          <p:cNvPr id="7" name="Text 4"/>
          <p:cNvSpPr/>
          <p:nvPr/>
        </p:nvSpPr>
        <p:spPr>
          <a:xfrm>
            <a:off x="5425245" y="5715000"/>
            <a:ext cx="63092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The driver is purchase volume, not a higher transaction value.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1967"/>
            <a:ext cx="11277318" cy="5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4600" spc="-23" kern="100" dirty="0">
                <a:solidFill>
                  <a:srgbClr val="111111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AVERAGE SPEND IS NEARLY IDENTICAL ACROSS CATEGORIES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457189" y="1189335"/>
            <a:ext cx="7416614" cy="5211465"/>
          </a:xfrm>
          <a:prstGeom prst="rect">
            <a:avLst/>
          </a:prstGeom>
          <a:noFill/>
          <a:ln w="38099">
            <a:solidFill>
              <a:srgbClr val="11111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882" y="1456035"/>
            <a:ext cx="6857828" cy="381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3882" y="5351760"/>
            <a:ext cx="714992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D52"/>
                </a:solidFill>
                <a:latin typeface="Sofia Sans Medium" pitchFamily="34" charset="0"/>
                <a:ea typeface="Sofia Sans Medium" pitchFamily="34" charset="-122"/>
                <a:cs typeface="Sofia Sans Medium" pitchFamily="34" charset="-120"/>
              </a:rPr>
              <a:t>Average purchase amount by category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26199" y="1189335"/>
            <a:ext cx="3708307" cy="5211465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7" name="Text 4"/>
          <p:cNvSpPr/>
          <p:nvPr/>
        </p:nvSpPr>
        <p:spPr>
          <a:xfrm>
            <a:off x="8254793" y="1420634"/>
            <a:ext cx="3479713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spc="80" kern="100" dirty="0">
                <a:solidFill>
                  <a:srgbClr val="000000"/>
                </a:solidFill>
                <a:latin typeface="Sofia Sans ExtraBold" pitchFamily="34" charset="0"/>
                <a:ea typeface="Sofia Sans ExtraBold" pitchFamily="34" charset="-122"/>
                <a:cs typeface="Sofia Sans ExtraBold" pitchFamily="34" charset="-120"/>
              </a:rPr>
              <a:t>REVENUE OPPORTUNITY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54793" y="3930372"/>
            <a:ext cx="3251119" cy="105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4600" spc="-23" kern="1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MORE PURCHASES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254793" y="5143500"/>
            <a:ext cx="325111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Growth comes from more purchases, not pricier baskets.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1967"/>
            <a:ext cx="11277318" cy="5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4600" spc="-23" kern="100" dirty="0">
                <a:solidFill>
                  <a:srgbClr val="111111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AGE AND PURCHASE HISTORY DON'T PREDICT SPEND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457189" y="1189335"/>
            <a:ext cx="5562461" cy="4681240"/>
          </a:xfrm>
          <a:prstGeom prst="rect">
            <a:avLst/>
          </a:prstGeom>
          <a:solidFill>
            <a:srgbClr val="43BD5E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2356763"/>
            <a:ext cx="5333867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spc="80" kern="100" dirty="0">
                <a:solidFill>
                  <a:srgbClr val="000000"/>
                </a:solidFill>
                <a:latin typeface="Sofia Sans ExtraBold" pitchFamily="34" charset="0"/>
                <a:ea typeface="Sofia Sans ExtraBold" pitchFamily="34" charset="-122"/>
                <a:cs typeface="Sofia Sans ExtraBold" pitchFamily="34" charset="-120"/>
              </a:rPr>
              <a:t>PURCHASE AMOUNT VS. AGE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783" y="2635349"/>
            <a:ext cx="5333867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Correlation about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783" y="3238897"/>
            <a:ext cx="5105272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4000" spc="-280" kern="1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-0.01</a:t>
            </a:r>
            <a:endParaRPr lang="en-US" sz="14000" dirty="0"/>
          </a:p>
        </p:txBody>
      </p:sp>
      <p:sp>
        <p:nvSpPr>
          <p:cNvPr id="7" name="Shape 5"/>
          <p:cNvSpPr/>
          <p:nvPr/>
        </p:nvSpPr>
        <p:spPr>
          <a:xfrm>
            <a:off x="6172046" y="1189335"/>
            <a:ext cx="5562461" cy="4681240"/>
          </a:xfrm>
          <a:prstGeom prst="rect">
            <a:avLst/>
          </a:prstGeom>
          <a:solidFill>
            <a:srgbClr val="2438C8"/>
          </a:solidFill>
          <a:ln/>
        </p:spPr>
      </p:sp>
      <p:sp>
        <p:nvSpPr>
          <p:cNvPr id="8" name="Text 6"/>
          <p:cNvSpPr/>
          <p:nvPr/>
        </p:nvSpPr>
        <p:spPr>
          <a:xfrm>
            <a:off x="6400640" y="2325707"/>
            <a:ext cx="5333867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spc="80" kern="100" dirty="0">
                <a:solidFill>
                  <a:srgbClr val="FFFFFF"/>
                </a:solidFill>
                <a:latin typeface="Sofia Sans ExtraBold" pitchFamily="34" charset="0"/>
                <a:ea typeface="Sofia Sans ExtraBold" pitchFamily="34" charset="-122"/>
                <a:cs typeface="Sofia Sans ExtraBold" pitchFamily="34" charset="-120"/>
              </a:rPr>
              <a:t>PURCHASE AMOUNT VS. PREVIOUS PURCHASES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640" y="2702719"/>
            <a:ext cx="5105272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4000" spc="-280" kern="1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0.008</a:t>
            </a:r>
            <a:endParaRPr lang="en-US" sz="14000" dirty="0"/>
          </a:p>
        </p:txBody>
      </p:sp>
      <p:sp>
        <p:nvSpPr>
          <p:cNvPr id="10" name="Text 8"/>
          <p:cNvSpPr/>
          <p:nvPr/>
        </p:nvSpPr>
        <p:spPr>
          <a:xfrm>
            <a:off x="6400640" y="4454029"/>
            <a:ext cx="5333867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Correlation about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57189" y="6057900"/>
            <a:ext cx="117345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Segment on several behaviors, not on age alone.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639" cy="6858000"/>
          </a:xfrm>
          <a:prstGeom prst="rect">
            <a:avLst/>
          </a:prstGeom>
          <a:solidFill>
            <a:srgbClr val="43BD5E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501967"/>
            <a:ext cx="6309262" cy="105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4600" spc="-23" kern="1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RATINGS ARE STEADY, WITH FOOTWEAR ON TOP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189" y="3871139"/>
            <a:ext cx="6766450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spc="80" kern="100" dirty="0">
                <a:solidFill>
                  <a:srgbClr val="000000"/>
                </a:solidFill>
                <a:latin typeface="Sofia Sans ExtraBold" pitchFamily="34" charset="0"/>
                <a:ea typeface="Sofia Sans ExtraBold" pitchFamily="34" charset="-122"/>
                <a:cs typeface="Sofia Sans ExtraBold" pitchFamily="34" charset="-120"/>
              </a:rPr>
              <a:t>FOOTWEAR · AVERAGE RATING ABOUT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189" y="4305300"/>
            <a:ext cx="6309262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20000" spc="-400" kern="100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3.79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7833124" y="2279650"/>
            <a:ext cx="390138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11111"/>
                </a:solidFill>
                <a:latin typeface="Sofia Sans Medium" pitchFamily="34" charset="0"/>
                <a:ea typeface="Sofia Sans Medium" pitchFamily="34" charset="-122"/>
                <a:cs typeface="Sofia Sans Medium" pitchFamily="34" charset="-120"/>
              </a:rPr>
              <a:t>Highest average rating among major categories.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833124" y="3241675"/>
            <a:ext cx="3901283" cy="69751"/>
          </a:xfrm>
          <a:prstGeom prst="roundRect">
            <a:avLst>
              <a:gd name="adj" fmla="val 49999"/>
            </a:avLst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7833124" y="3549650"/>
            <a:ext cx="390138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Discount and subscription data show useful segments, but not causal effects.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1967"/>
            <a:ext cx="11277318" cy="5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4600" spc="-23" kern="100" dirty="0">
                <a:solidFill>
                  <a:srgbClr val="111111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FIVE MOVES TO GROW REVENUE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57189" y="1412776"/>
            <a:ext cx="93551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32" kern="100" dirty="0">
                <a:solidFill>
                  <a:srgbClr val="111111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35510" y="1341735"/>
            <a:ext cx="7202407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Cross-sell Accessories and Footwear to high-volume Clothing buyers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189" y="2455069"/>
            <a:ext cx="941662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32" kern="100" dirty="0">
                <a:solidFill>
                  <a:srgbClr val="111111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02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41662" y="2384028"/>
            <a:ext cx="7196255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Build multi-variable customer segments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57189" y="3497362"/>
            <a:ext cx="94692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32" kern="100" dirty="0">
                <a:solidFill>
                  <a:srgbClr val="111111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03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46920" y="3426321"/>
            <a:ext cx="7190997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Merchandise and recommend the top-rated products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57189" y="4539655"/>
            <a:ext cx="963985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32" kern="100" dirty="0">
                <a:solidFill>
                  <a:srgbClr val="111111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04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63985" y="4468614"/>
            <a:ext cx="7173931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Add dates, discount amounts and profit data to measure promotions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57189" y="5581948"/>
            <a:ext cx="949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32" kern="100" dirty="0">
                <a:solidFill>
                  <a:srgbClr val="111111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05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49400" y="5510907"/>
            <a:ext cx="7188516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Expand the data for retention, cohort and lifetime-value work</a:t>
            </a:r>
            <a:endParaRPr lang="en-US" sz="16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10" y="1189335"/>
            <a:ext cx="3291897" cy="521146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189" y="2218928"/>
            <a:ext cx="7680728" cy="25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189" y="3261221"/>
            <a:ext cx="7680728" cy="25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189" y="4303514"/>
            <a:ext cx="7680728" cy="25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189" y="5345807"/>
            <a:ext cx="7680728" cy="25400"/>
          </a:xfrm>
          <a:prstGeom prst="rect">
            <a:avLst/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1967"/>
            <a:ext cx="11277318" cy="5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4600" spc="-23" kern="100" dirty="0">
                <a:solidFill>
                  <a:srgbClr val="111111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WHAT THIS ANALYSIS CAN'T TELL US YET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457189" y="1189335"/>
            <a:ext cx="3657509" cy="411609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1417935"/>
            <a:ext cx="320032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000000"/>
                </a:solidFill>
                <a:latin typeface="Sofia Sans Medium" pitchFamily="34" charset="0"/>
                <a:ea typeface="Sofia Sans Medium" pitchFamily="34" charset="-122"/>
                <a:cs typeface="Sofia Sans Medium" pitchFamily="34" charset="-120"/>
              </a:rPr>
              <a:t>No transaction dates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783" y="4391025"/>
            <a:ext cx="320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No time-series or cohort analysis.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267093" y="1189335"/>
            <a:ext cx="3657509" cy="4116090"/>
          </a:xfrm>
          <a:prstGeom prst="rect">
            <a:avLst/>
          </a:prstGeom>
          <a:solidFill>
            <a:srgbClr val="D93A26"/>
          </a:solidFill>
          <a:ln/>
        </p:spPr>
      </p:sp>
      <p:sp>
        <p:nvSpPr>
          <p:cNvPr id="7" name="Text 5"/>
          <p:cNvSpPr/>
          <p:nvPr/>
        </p:nvSpPr>
        <p:spPr>
          <a:xfrm>
            <a:off x="4495688" y="1417935"/>
            <a:ext cx="320032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Sofia Sans Medium" pitchFamily="34" charset="0"/>
                <a:ea typeface="Sofia Sans Medium" pitchFamily="34" charset="-122"/>
                <a:cs typeface="Sofia Sans Medium" pitchFamily="34" charset="-120"/>
              </a:rPr>
              <a:t>No profit or margin field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495688" y="4733925"/>
            <a:ext cx="342891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No ROI claims.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76998" y="1189335"/>
            <a:ext cx="3657509" cy="4116090"/>
          </a:xfrm>
          <a:prstGeom prst="rect">
            <a:avLst/>
          </a:prstGeom>
          <a:solidFill>
            <a:srgbClr val="2438C8"/>
          </a:solidFill>
          <a:ln/>
        </p:spPr>
      </p:sp>
      <p:sp>
        <p:nvSpPr>
          <p:cNvPr id="10" name="Text 8"/>
          <p:cNvSpPr/>
          <p:nvPr/>
        </p:nvSpPr>
        <p:spPr>
          <a:xfrm>
            <a:off x="8305592" y="1417935"/>
            <a:ext cx="320032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Sofia Sans Medium" pitchFamily="34" charset="0"/>
                <a:ea typeface="Sofia Sans Medium" pitchFamily="34" charset="-122"/>
                <a:cs typeface="Sofia Sans Medium" pitchFamily="34" charset="-120"/>
              </a:rPr>
              <a:t>Descriptive findings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05592" y="4733925"/>
            <a:ext cx="342891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Not causal.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189" y="5543550"/>
            <a:ext cx="11277318" cy="69751"/>
          </a:xfrm>
          <a:prstGeom prst="roundRect">
            <a:avLst>
              <a:gd name="adj" fmla="val 49999"/>
            </a:avLst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189" y="6019800"/>
            <a:ext cx="1127731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11111"/>
                </a:solidFill>
                <a:latin typeface="Sofia Sans Medium" pitchFamily="34" charset="0"/>
                <a:ea typeface="Sofia Sans Medium" pitchFamily="34" charset="-122"/>
                <a:cs typeface="Sofia Sans Medium" pitchFamily="34" charset="-120"/>
              </a:rPr>
              <a:t>Next step: richer data to measure what drives revenue.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2026-10-08T06:58:14Z</dcterms:created>
  <dcterms:modified xsi:type="dcterms:W3CDTF">2026-10-08T06:58:14Z</dcterms:modified>
</cp:coreProperties>
</file>